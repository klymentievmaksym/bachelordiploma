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630c0e9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630c0e9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2198d6e6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2198d6e6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8c89b253e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8c89b253e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b443dbb6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b443dbb6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b443dbb6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9b443dbb6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b443dbb6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b443dbb6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630c0e9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630c0e9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2198d6e6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2198d6e6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b443dbb6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b443dbb6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b443dbb6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b443dbb6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b443dbb6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b443dbb6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b443dbb6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b443dbb6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b443dbb6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b443dbb6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b443dbb6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b443dbb6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b443dbb6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b443dbb6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b443dbb6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b443dbb6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b443dbb6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b443dbb6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b443dbb6b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b443dbb6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b443dbb6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b443dbb6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b443dbb6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b443dbb6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b443dbb6b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b443dbb6b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b443dbb6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b443dbb6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9b443dbb6b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9b443dbb6b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b443dbb6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b443dbb6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2198d6e6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2198d6e6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b443dbb6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9b443dbb6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b443dbb6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9b443dbb6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9b443dbb6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9b443dbb6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9b443dbb6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9b443dbb6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b443dbb6b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b443dbb6b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c89b253e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8c89b253e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solidFill>
            <a:srgbClr val="00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
        <p:nvSpPr>
          <p:cNvPr id="20" name="Google Shape;20;p4"/>
          <p:cNvSpPr/>
          <p:nvPr/>
        </p:nvSpPr>
        <p:spPr>
          <a:xfrm>
            <a:off x="311725" y="4568875"/>
            <a:ext cx="8520600" cy="572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4"/>
          <p:cNvSpPr/>
          <p:nvPr/>
        </p:nvSpPr>
        <p:spPr>
          <a:xfrm>
            <a:off x="-10850" y="0"/>
            <a:ext cx="322500" cy="5143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
        <p:nvSpPr>
          <p:cNvPr id="22" name="Google Shape;22;p4"/>
          <p:cNvSpPr/>
          <p:nvPr/>
        </p:nvSpPr>
        <p:spPr>
          <a:xfrm>
            <a:off x="8832350" y="0"/>
            <a:ext cx="322500" cy="5143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
        <p:nvSpPr>
          <p:cNvPr id="23" name="Google Shape;23;p4"/>
          <p:cNvSpPr/>
          <p:nvPr/>
        </p:nvSpPr>
        <p:spPr>
          <a:xfrm>
            <a:off x="311725" y="0"/>
            <a:ext cx="8520600" cy="444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pdf/2008.1077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xiv.org/pdf/2208.0939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arxiv.org/pdf/1611.0700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arxiv.org/pdf/1804.0602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arxiv.org/pdf/2305.1521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arxiv.org/pdf/1807.0658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arxiv.org/pdf/2209.1122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arxiv.org/pdf/2212.1161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rxiv.org/pdf/2102.0443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arxiv.org/pdf/1603.0666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arxiv.org/pdf/2402.1085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arxiv.org/pdf/1712.0340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arxiv.org/pdf/2111.0582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arxiv.org/pdf/2005.1082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arxiv.org/pdf/1907.0983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arxiv.org/pdf/2207.0683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arxiv.org/pdf/2312.04145v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arxiv.org/pdf/1603.085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arxiv.org/pdf/1705.0299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arxiv.org/pdf/1703.1059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arxiv.org/pdf/2311.1512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arxiv.org/pdf/2501.09499"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arxiv.org/pdf/1908.01311"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arxiv.org/pdf/2110.0456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arxiv.org/pdf/1906.09909"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docs.google.com/document/d/1BuUdqxHaIoYi07K9DqLiiDYf6IVGjuDdH6CQS1QKlc8/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11700" y="1982400"/>
            <a:ext cx="8520600" cy="1178700"/>
          </a:xfrm>
          <a:prstGeom prst="rect">
            <a:avLst/>
          </a:prstGeom>
          <a:solidFill>
            <a:schemeClr val="lt2"/>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SzPts val="990"/>
              <a:buNone/>
            </a:pPr>
            <a:r>
              <a:rPr lang="uk" sz="2300"/>
              <a:t>Колоризація зображень та відео з інтерактивною взаємодією користувача та багатоваріантною генерацією результатів. Аналіз та порівняння різних варіантів колоризації.</a:t>
            </a:r>
            <a:endParaRPr sz="2300"/>
          </a:p>
        </p:txBody>
      </p:sp>
      <p:sp>
        <p:nvSpPr>
          <p:cNvPr id="59" name="Google Shape;59;p13"/>
          <p:cNvSpPr txBox="1"/>
          <p:nvPr>
            <p:ph idx="1" type="subTitle"/>
          </p:nvPr>
        </p:nvSpPr>
        <p:spPr>
          <a:xfrm>
            <a:off x="311700" y="4383000"/>
            <a:ext cx="8520600" cy="760500"/>
          </a:xfrm>
          <a:prstGeom prst="rect">
            <a:avLst/>
          </a:prstGeom>
          <a:solidFill>
            <a:schemeClr val="accent4"/>
          </a:solidFill>
          <a:ln cap="flat" cmpd="sng" w="9525">
            <a:solidFill>
              <a:srgbClr val="000000"/>
            </a:solidFill>
            <a:prstDash val="dash"/>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0"/>
              </a:spcAft>
              <a:buSzPts val="1018"/>
              <a:buNone/>
            </a:pPr>
            <a:r>
              <a:rPr lang="uk" sz="1800"/>
              <a:t>Аналіз літератури виконав ФІ-21 Климентьєв Максим</a:t>
            </a:r>
            <a:endParaRPr sz="1800"/>
          </a:p>
        </p:txBody>
      </p:sp>
      <p:sp>
        <p:nvSpPr>
          <p:cNvPr id="60" name="Google Shape;60;p13"/>
          <p:cNvSpPr txBox="1"/>
          <p:nvPr/>
        </p:nvSpPr>
        <p:spPr>
          <a:xfrm>
            <a:off x="540300" y="746425"/>
            <a:ext cx="8063400" cy="646500"/>
          </a:xfrm>
          <a:prstGeom prst="rect">
            <a:avLst/>
          </a:prstGeom>
          <a:solidFill>
            <a:srgbClr val="00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uk" sz="3000">
                <a:solidFill>
                  <a:schemeClr val="dk1"/>
                </a:solidFill>
              </a:rPr>
              <a:t>Аналіз літератури для дипломної роботи</a:t>
            </a:r>
            <a:endParaRPr b="1" sz="3000">
              <a:solidFill>
                <a:schemeClr val="dk1"/>
              </a:solidFill>
            </a:endParaRPr>
          </a:p>
        </p:txBody>
      </p:sp>
      <p:sp>
        <p:nvSpPr>
          <p:cNvPr id="61" name="Google Shape;61;p13"/>
          <p:cNvSpPr/>
          <p:nvPr/>
        </p:nvSpPr>
        <p:spPr>
          <a:xfrm>
            <a:off x="-10850" y="0"/>
            <a:ext cx="322500" cy="5143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
        <p:nvSpPr>
          <p:cNvPr id="62" name="Google Shape;62;p13"/>
          <p:cNvSpPr/>
          <p:nvPr/>
        </p:nvSpPr>
        <p:spPr>
          <a:xfrm>
            <a:off x="8832350" y="0"/>
            <a:ext cx="322500" cy="5143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412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uk"/>
              <a:t>Монографії</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412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uk"/>
              <a:t>База</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p:nvPr/>
        </p:nvSpPr>
        <p:spPr>
          <a:xfrm>
            <a:off x="311725" y="4568875"/>
            <a:ext cx="8520600" cy="5727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6"/>
          <p:cNvSpPr txBox="1"/>
          <p:nvPr>
            <p:ph type="title"/>
          </p:nvPr>
        </p:nvSpPr>
        <p:spPr>
          <a:xfrm>
            <a:off x="311700" y="445025"/>
            <a:ext cx="8520600" cy="572700"/>
          </a:xfrm>
          <a:prstGeom prst="rect">
            <a:avLst/>
          </a:prstGeom>
          <a:solidFill>
            <a:srgbClr val="00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Image colorization: A survey and dataset</a:t>
            </a:r>
            <a:endParaRPr/>
          </a:p>
        </p:txBody>
      </p:sp>
      <p:sp>
        <p:nvSpPr>
          <p:cNvPr id="79" name="Google Shape;79;p16"/>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uk"/>
              <a:t>Анотація: Огляд присвячено сучасним методам розфарбовування зображень на основі глибинного навчання. Розглянуто архітектури, набори даних</a:t>
            </a:r>
            <a:r>
              <a:rPr lang="uk"/>
              <a:t> та </a:t>
            </a:r>
            <a:r>
              <a:rPr lang="uk"/>
              <a:t> метрики оцінювання. Запропоновано новий датасет і визначено напрями подальших досліджень.</a:t>
            </a:r>
            <a:endParaRPr/>
          </a:p>
          <a:p>
            <a:pPr indent="0" lvl="0" marL="0" rtl="0" algn="l">
              <a:spcBef>
                <a:spcPts val="1200"/>
              </a:spcBef>
              <a:spcAft>
                <a:spcPts val="0"/>
              </a:spcAft>
              <a:buNone/>
            </a:pPr>
            <a:r>
              <a:rPr lang="uk"/>
              <a:t>Прогалини</a:t>
            </a:r>
            <a:r>
              <a:rPr lang="uk"/>
              <a:t>:</a:t>
            </a:r>
            <a:r>
              <a:rPr lang="uk"/>
              <a:t> Не для відео</a:t>
            </a:r>
            <a:r>
              <a:rPr lang="uk"/>
              <a:t>.</a:t>
            </a:r>
            <a:endParaRPr/>
          </a:p>
          <a:p>
            <a:pPr indent="0" lvl="0" marL="0" rtl="0" algn="l">
              <a:spcBef>
                <a:spcPts val="1200"/>
              </a:spcBef>
              <a:spcAft>
                <a:spcPts val="0"/>
              </a:spcAft>
              <a:buNone/>
            </a:pPr>
            <a:r>
              <a:rPr lang="uk" sz="1000"/>
              <a:t>Прогалини вказані у самому документі: </a:t>
            </a:r>
            <a:endParaRPr sz="1000"/>
          </a:p>
          <a:p>
            <a:pPr indent="-292100" lvl="0" marL="457200" rtl="0" algn="l">
              <a:spcBef>
                <a:spcPts val="1200"/>
              </a:spcBef>
              <a:spcAft>
                <a:spcPts val="0"/>
              </a:spcAft>
              <a:buSzPts val="1000"/>
              <a:buChar char="●"/>
            </a:pPr>
            <a:r>
              <a:rPr lang="uk" sz="1000"/>
              <a:t>Відсутність належних метрик оцінювання</a:t>
            </a:r>
            <a:endParaRPr sz="1000"/>
          </a:p>
          <a:p>
            <a:pPr indent="-292100" lvl="0" marL="457200" rtl="0" algn="l">
              <a:spcBef>
                <a:spcPts val="0"/>
              </a:spcBef>
              <a:spcAft>
                <a:spcPts val="0"/>
              </a:spcAft>
              <a:buSzPts val="1000"/>
              <a:buChar char="●"/>
            </a:pPr>
            <a:r>
              <a:rPr lang="uk" sz="1000"/>
              <a:t>Відсутність якісних еталонних датасетів</a:t>
            </a:r>
            <a:endParaRPr sz="1000"/>
          </a:p>
          <a:p>
            <a:pPr indent="-292100" lvl="0" marL="457200" rtl="0" algn="l">
              <a:spcBef>
                <a:spcPts val="0"/>
              </a:spcBef>
              <a:spcAft>
                <a:spcPts val="0"/>
              </a:spcAft>
              <a:buSzPts val="1000"/>
              <a:buChar char="●"/>
            </a:pPr>
            <a:r>
              <a:rPr lang="uk" sz="1000"/>
              <a:t>Відсутність конкурсів і змагань</a:t>
            </a:r>
            <a:endParaRPr sz="1000"/>
          </a:p>
          <a:p>
            <a:pPr indent="-292100" lvl="0" marL="457200" rtl="0" algn="l">
              <a:spcBef>
                <a:spcPts val="0"/>
              </a:spcBef>
              <a:spcAft>
                <a:spcPts val="0"/>
              </a:spcAft>
              <a:buSzPts val="1000"/>
              <a:buChar char="●"/>
            </a:pPr>
            <a:r>
              <a:rPr lang="uk" sz="1000"/>
              <a:t>Обмежена доступність відкритого коду</a:t>
            </a:r>
            <a:endParaRPr sz="1000"/>
          </a:p>
        </p:txBody>
      </p:sp>
      <p:sp>
        <p:nvSpPr>
          <p:cNvPr id="80" name="Google Shape;80;p16"/>
          <p:cNvSpPr txBox="1"/>
          <p:nvPr/>
        </p:nvSpPr>
        <p:spPr>
          <a:xfrm>
            <a:off x="311700" y="4568875"/>
            <a:ext cx="8520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https://arxiv.org/pdf/2008.10774</a:t>
            </a:r>
            <a:r>
              <a:rPr lang="uk" sz="1100">
                <a:solidFill>
                  <a:schemeClr val="dk1"/>
                </a:solidFill>
              </a:rPr>
              <a:t>) </a:t>
            </a:r>
            <a:r>
              <a:rPr lang="uk" sz="1000">
                <a:solidFill>
                  <a:schemeClr val="dk1"/>
                </a:solidFill>
              </a:rPr>
              <a:t>Anwar, S., Tahir, M., Li, C., Mian, A., Khan, F. S., &amp; Muzaffar, A. W. (2020). Image colorization: A survey and dataset. arXiv preprint arXiv:2008.10774. </a:t>
            </a:r>
            <a:endParaRPr sz="1000"/>
          </a:p>
        </p:txBody>
      </p:sp>
      <p:sp>
        <p:nvSpPr>
          <p:cNvPr id="81" name="Google Shape;81;p16"/>
          <p:cNvSpPr/>
          <p:nvPr/>
        </p:nvSpPr>
        <p:spPr>
          <a:xfrm>
            <a:off x="-10850" y="0"/>
            <a:ext cx="322500" cy="5143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
        <p:nvSpPr>
          <p:cNvPr id="82" name="Google Shape;82;p16"/>
          <p:cNvSpPr/>
          <p:nvPr/>
        </p:nvSpPr>
        <p:spPr>
          <a:xfrm>
            <a:off x="8832350" y="0"/>
            <a:ext cx="322500" cy="5143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endParaRPr>
          </a:p>
        </p:txBody>
      </p:sp>
      <p:sp>
        <p:nvSpPr>
          <p:cNvPr id="83" name="Google Shape;83;p16"/>
          <p:cNvSpPr/>
          <p:nvPr/>
        </p:nvSpPr>
        <p:spPr>
          <a:xfrm>
            <a:off x="311725" y="0"/>
            <a:ext cx="8520600" cy="444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Cold diffusion: Inverting arbitrary image transforms without noise</a:t>
            </a:r>
            <a:endParaRPr sz="2500"/>
          </a:p>
        </p:txBody>
      </p:sp>
      <p:sp>
        <p:nvSpPr>
          <p:cNvPr id="89" name="Google Shape;89;p17"/>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У роботі показано, що генеративна здатність дифузійних моделей не залежить від типу спотворення зображення. Автори пропонують узагальнену сім’ю моделей, що використовують як стохастичні, так і детерміновані перетворення, ставлячи під сумнів традиційне розуміння ролі шуму в дифузійних моделях.</a:t>
            </a:r>
            <a:endParaRPr/>
          </a:p>
          <a:p>
            <a:pPr indent="0" lvl="0" marL="0" rtl="0" algn="l">
              <a:spcBef>
                <a:spcPts val="1200"/>
              </a:spcBef>
              <a:spcAft>
                <a:spcPts val="1200"/>
              </a:spcAft>
              <a:buNone/>
            </a:pPr>
            <a:r>
              <a:rPr lang="uk"/>
              <a:t>Прогалини</a:t>
            </a:r>
            <a:r>
              <a:rPr lang="uk"/>
              <a:t>: </a:t>
            </a:r>
            <a:r>
              <a:rPr lang="uk"/>
              <a:t>О</a:t>
            </a:r>
            <a:r>
              <a:rPr lang="uk"/>
              <a:t>бмежене застосування для відео та багатоваріантності.</a:t>
            </a:r>
            <a:endParaRPr/>
          </a:p>
        </p:txBody>
      </p:sp>
      <p:sp>
        <p:nvSpPr>
          <p:cNvPr id="90" name="Google Shape;90;p17"/>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https://arxiv.org/pdf/2208.09392</a:t>
            </a:r>
            <a:r>
              <a:rPr lang="uk" sz="1100">
                <a:solidFill>
                  <a:schemeClr val="dk1"/>
                </a:solidFill>
              </a:rPr>
              <a:t>) Bansal, A., Borgnia, E., Chu, H. M., Li, J., Kazemi, H., Huang, F., ... &amp; Goldstein, T. (2023). Cold diffusion: Inverting arbitrary image transforms without noise. </a:t>
            </a:r>
            <a:r>
              <a:rPr i="1" lang="uk" sz="1100">
                <a:solidFill>
                  <a:schemeClr val="dk1"/>
                </a:solidFill>
              </a:rPr>
              <a:t>Advances in Neural Information Processing Systems</a:t>
            </a:r>
            <a:r>
              <a:rPr lang="uk" sz="1100">
                <a:solidFill>
                  <a:schemeClr val="dk1"/>
                </a:solidFill>
              </a:rPr>
              <a:t>, </a:t>
            </a:r>
            <a:r>
              <a:rPr i="1" lang="uk" sz="1100">
                <a:solidFill>
                  <a:schemeClr val="dk1"/>
                </a:solidFill>
              </a:rPr>
              <a:t>36</a:t>
            </a:r>
            <a:r>
              <a:rPr lang="uk" sz="1100">
                <a:solidFill>
                  <a:schemeClr val="dk1"/>
                </a:solidFill>
              </a:rPr>
              <a:t>, 41259-41282.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Image-to-image translation with conditional adversarial networks</a:t>
            </a:r>
            <a:endParaRPr sz="2500"/>
          </a:p>
        </p:txBody>
      </p:sp>
      <p:sp>
        <p:nvSpPr>
          <p:cNvPr id="96" name="Google Shape;96;p18"/>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pix2pix — модель умовних генеративних змагальних мереж (cGAN) для задач перетворення зображень. Вона навчається відображенню між вхідним і вихідним зображенням, одночасно оптимізуючи функцію втрат, що дозволяє застосовувати універсальний підхід до різних завдань, таких як кольоризація, реконструкція з контурів та синтез фотографій з мап міток.</a:t>
            </a:r>
            <a:endParaRPr/>
          </a:p>
          <a:p>
            <a:pPr indent="0" lvl="0" marL="0" rtl="0" algn="l">
              <a:spcBef>
                <a:spcPts val="1200"/>
              </a:spcBef>
              <a:spcAft>
                <a:spcPts val="1200"/>
              </a:spcAft>
              <a:buNone/>
            </a:pPr>
            <a:r>
              <a:rPr lang="uk"/>
              <a:t>Прогалини</a:t>
            </a:r>
            <a:r>
              <a:rPr lang="uk"/>
              <a:t>: </a:t>
            </a:r>
            <a:r>
              <a:rPr lang="uk"/>
              <a:t>Не інтерактивне та не багатоваріантне</a:t>
            </a:r>
            <a:r>
              <a:rPr lang="uk"/>
              <a:t>.</a:t>
            </a:r>
            <a:endParaRPr/>
          </a:p>
        </p:txBody>
      </p:sp>
      <p:sp>
        <p:nvSpPr>
          <p:cNvPr id="97" name="Google Shape;97;p18"/>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https://arxiv.org/pdf/1611.07004</a:t>
            </a:r>
            <a:r>
              <a:rPr lang="uk" sz="1100">
                <a:solidFill>
                  <a:schemeClr val="dk1"/>
                </a:solidFill>
              </a:rPr>
              <a:t>) Isola, P., Zhu, J. Y., Zhou, T., &amp; Efros, A. A. (2017). Image-to-image translation with conditional adversarial networks. In Proceedings of the IEEE conference on computer vision and pattern recognition (pp. 1125-1134).</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Learning to color from language</a:t>
            </a:r>
            <a:endParaRPr/>
          </a:p>
        </p:txBody>
      </p:sp>
      <p:sp>
        <p:nvSpPr>
          <p:cNvPr id="103" name="Google Shape;103;p19"/>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Д</a:t>
            </a:r>
            <a:r>
              <a:rPr lang="uk"/>
              <a:t>ві архітектури для кольоризації зображень, що ґрунтуються на текстових підказках. Моделі використовують попередньо навчені мережі для генерації кольорів, які відповідають опису з тексту.</a:t>
            </a:r>
            <a:r>
              <a:rPr lang="uk"/>
              <a:t>.</a:t>
            </a:r>
            <a:endParaRPr/>
          </a:p>
          <a:p>
            <a:pPr indent="0" lvl="0" marL="0" rtl="0" algn="l">
              <a:spcBef>
                <a:spcPts val="1200"/>
              </a:spcBef>
              <a:spcAft>
                <a:spcPts val="1200"/>
              </a:spcAft>
              <a:buNone/>
            </a:pPr>
            <a:r>
              <a:rPr lang="uk"/>
              <a:t>Прогалини</a:t>
            </a:r>
            <a:r>
              <a:rPr lang="uk"/>
              <a:t>: </a:t>
            </a:r>
            <a:r>
              <a:rPr lang="uk"/>
              <a:t>Не для відео та обмежена багатоваріантність</a:t>
            </a:r>
            <a:r>
              <a:rPr lang="uk"/>
              <a:t>.</a:t>
            </a:r>
            <a:endParaRPr/>
          </a:p>
        </p:txBody>
      </p:sp>
      <p:sp>
        <p:nvSpPr>
          <p:cNvPr id="104" name="Google Shape;104;p19"/>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https://arxiv.org/pdf/1804.06026</a:t>
            </a:r>
            <a:r>
              <a:rPr lang="uk" sz="1100">
                <a:solidFill>
                  <a:schemeClr val="dk1"/>
                </a:solidFill>
              </a:rPr>
              <a:t>) Manjunatha, V., Iyyer, M., Boyd-Graber, J., &amp; Davis, L. (2018). Learning to color from language. arXiv preprint arXiv:1804.06026.</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412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uk"/>
              <a:t>Окремі методи</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412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uk"/>
              <a:t>Image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96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SzPts val="990"/>
              <a:buNone/>
            </a:pPr>
            <a:r>
              <a:rPr lang="uk" sz="2520"/>
              <a:t>L-cad: Language-based colorization with any-level descriptions using diffusion priors</a:t>
            </a:r>
            <a:endParaRPr sz="2520"/>
          </a:p>
        </p:txBody>
      </p:sp>
      <p:sp>
        <p:nvSpPr>
          <p:cNvPr id="120" name="Google Shape;120;p22"/>
          <p:cNvSpPr txBox="1"/>
          <p:nvPr>
            <p:ph idx="1" type="body"/>
          </p:nvPr>
        </p:nvSpPr>
        <p:spPr>
          <a:xfrm>
            <a:off x="311700" y="1405625"/>
            <a:ext cx="8520600" cy="316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L-CAD — модель кольоризації зображень за природними мовними описами будь-якої деталізації. Модель зберігає локальні структури, запобігає небажаним ефектам і використовує нову стратегію семплінгу для точного відновлення кольорів. Показано переваги L-CAD над іншими мовними та автоматичними методами кольоризації.</a:t>
            </a:r>
            <a:endParaRPr/>
          </a:p>
          <a:p>
            <a:pPr indent="0" lvl="0" marL="0" rtl="0" algn="l">
              <a:spcBef>
                <a:spcPts val="1200"/>
              </a:spcBef>
              <a:spcAft>
                <a:spcPts val="1200"/>
              </a:spcAft>
              <a:buNone/>
            </a:pPr>
            <a:r>
              <a:rPr lang="uk"/>
              <a:t>Прогалини</a:t>
            </a:r>
            <a:r>
              <a:rPr lang="uk"/>
              <a:t>: Обмежена </a:t>
            </a:r>
            <a:r>
              <a:rPr lang="uk"/>
              <a:t>багатоваріантність</a:t>
            </a:r>
            <a:r>
              <a:rPr lang="uk"/>
              <a:t>.</a:t>
            </a:r>
            <a:endParaRPr/>
          </a:p>
        </p:txBody>
      </p:sp>
      <p:sp>
        <p:nvSpPr>
          <p:cNvPr id="121" name="Google Shape;121;p22"/>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https://arxiv.org/pdf/2305.15217</a:t>
            </a:r>
            <a:r>
              <a:rPr lang="uk" sz="1100">
                <a:solidFill>
                  <a:schemeClr val="dk1"/>
                </a:solidFill>
              </a:rPr>
              <a:t>) Weng, S., Zhang, P., Li, Y., Li, S., &amp; Shi, B. (2023). L-cad: Language-based colorization with any-level descriptions using diffusion priors. Advances in Neural Information Processing Systems, 36, 77174-77186.</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Deep exemplar-based colorization</a:t>
            </a:r>
            <a:endParaRPr/>
          </a:p>
        </p:txBody>
      </p:sp>
      <p:sp>
        <p:nvSpPr>
          <p:cNvPr id="127" name="Google Shape;127;p23"/>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локальної кольоризації зображень на основі еталонів за допомогою глибоких згорткових мереж. Модель автоматично підбирає кольорові еталони, забезпечує узгодженість кольору та дозволяє користувачу контролювати результати, навіть якщо еталони не пов’язані з вхідним зображенням.</a:t>
            </a:r>
            <a:endParaRPr/>
          </a:p>
          <a:p>
            <a:pPr indent="0" lvl="0" marL="0" rtl="0" algn="l">
              <a:spcBef>
                <a:spcPts val="1200"/>
              </a:spcBef>
              <a:spcAft>
                <a:spcPts val="1200"/>
              </a:spcAft>
              <a:buNone/>
            </a:pPr>
            <a:r>
              <a:rPr lang="uk"/>
              <a:t>Прогалини</a:t>
            </a:r>
            <a:r>
              <a:rPr lang="uk"/>
              <a:t>: </a:t>
            </a:r>
            <a:r>
              <a:rPr lang="uk"/>
              <a:t>Не інтерактивна, обмежена багатоваріантність</a:t>
            </a:r>
            <a:r>
              <a:rPr lang="uk"/>
              <a:t>.</a:t>
            </a:r>
            <a:endParaRPr/>
          </a:p>
        </p:txBody>
      </p:sp>
      <p:sp>
        <p:nvSpPr>
          <p:cNvPr id="128" name="Google Shape;128;p23"/>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https://arxiv.org/pdf/1807.06587</a:t>
            </a:r>
            <a:r>
              <a:rPr lang="uk" sz="1100">
                <a:solidFill>
                  <a:schemeClr val="dk1"/>
                </a:solidFill>
              </a:rPr>
              <a:t>) He, M., Chen, D., Liao, J., Sander, P. V., &amp; Yuan, L. (2018). Deep exemplar-based colorization. ACM Transactions on Graphics (TOG), 37(4), 1-16.</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Unicolor: A unified framework for multi-modal colorization with transformer</a:t>
            </a:r>
            <a:endParaRPr sz="2500"/>
          </a:p>
        </p:txBody>
      </p:sp>
      <p:sp>
        <p:nvSpPr>
          <p:cNvPr id="134" name="Google Shape;134;p24"/>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UniColor — універсальна мультимодальна модель кольоризації з підтримкою тексту, ескізів та еталонів. Модель забезпечує інтерактивну роботу та багатоваріантні результати для одного зображення</a:t>
            </a:r>
            <a:r>
              <a:rPr lang="uk"/>
              <a:t>.</a:t>
            </a:r>
            <a:endParaRPr/>
          </a:p>
          <a:p>
            <a:pPr indent="0" lvl="0" marL="0" rtl="0" algn="l">
              <a:spcBef>
                <a:spcPts val="1200"/>
              </a:spcBef>
              <a:spcAft>
                <a:spcPts val="1200"/>
              </a:spcAft>
              <a:buNone/>
            </a:pPr>
            <a:r>
              <a:rPr lang="uk"/>
              <a:t>Прогалини</a:t>
            </a:r>
            <a:r>
              <a:rPr lang="uk"/>
              <a:t>: В </a:t>
            </a:r>
            <a:r>
              <a:rPr lang="uk"/>
              <a:t>статті</a:t>
            </a:r>
            <a:r>
              <a:rPr lang="uk"/>
              <a:t> нічого про відео колоризацію.</a:t>
            </a:r>
            <a:endParaRPr/>
          </a:p>
        </p:txBody>
      </p:sp>
      <p:sp>
        <p:nvSpPr>
          <p:cNvPr id="135" name="Google Shape;135;p24"/>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https://arxiv.org/pdf/2209.11223</a:t>
            </a:r>
            <a:r>
              <a:rPr lang="uk" sz="1100">
                <a:solidFill>
                  <a:schemeClr val="dk1"/>
                </a:solidFill>
              </a:rPr>
              <a:t>) Huang, Z., Zhao, N., &amp; Liao, J. (2022). Unicolor: A unified framework for multi-modal colorization with transformer. ACM Transactions on Graphics (TOG), 41(6), 1-16.</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Ddcolor: Towards photo-realistic image colorization via dual decoders</a:t>
            </a:r>
            <a:endParaRPr sz="2500"/>
          </a:p>
        </p:txBody>
      </p:sp>
      <p:sp>
        <p:nvSpPr>
          <p:cNvPr id="141" name="Google Shape;141;p25"/>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DDColor — новий метод кольоризації зображень, що використовує дві декодуючі мережі: піксельний декодер для відновлення просторової роздільної здатності та запитувальний колірний декодер для уточнення кольорових запитів. Цей підхід дозволяє уникнути використання ручних пріоритетів і значно зменшує ефект розтікання кольору.</a:t>
            </a:r>
            <a:endParaRPr/>
          </a:p>
          <a:p>
            <a:pPr indent="0" lvl="0" marL="0" rtl="0" algn="l">
              <a:spcBef>
                <a:spcPts val="1200"/>
              </a:spcBef>
              <a:spcAft>
                <a:spcPts val="0"/>
              </a:spcAft>
              <a:buNone/>
            </a:pPr>
            <a:r>
              <a:rPr lang="uk"/>
              <a:t>Прогалини</a:t>
            </a:r>
            <a:r>
              <a:rPr lang="uk"/>
              <a:t>: </a:t>
            </a:r>
            <a:r>
              <a:rPr lang="uk"/>
              <a:t>Не інтерактивна та не для відео</a:t>
            </a:r>
            <a:r>
              <a:rPr lang="uk"/>
              <a:t>.</a:t>
            </a:r>
            <a:endParaRPr/>
          </a:p>
          <a:p>
            <a:pPr indent="0" lvl="0" marL="0" rtl="0" algn="l">
              <a:spcBef>
                <a:spcPts val="1200"/>
              </a:spcBef>
              <a:spcAft>
                <a:spcPts val="0"/>
              </a:spcAft>
              <a:buClr>
                <a:schemeClr val="dk1"/>
              </a:buClr>
              <a:buSzPts val="1100"/>
              <a:buFont typeface="Arial"/>
              <a:buNone/>
            </a:pPr>
            <a:r>
              <a:rPr lang="uk" sz="1000"/>
              <a:t>Прогалини вказані у самому документі: </a:t>
            </a:r>
            <a:endParaRPr sz="1000"/>
          </a:p>
          <a:p>
            <a:pPr indent="-292100" lvl="0" marL="457200" rtl="0" algn="l">
              <a:spcBef>
                <a:spcPts val="1200"/>
              </a:spcBef>
              <a:spcAft>
                <a:spcPts val="0"/>
              </a:spcAft>
              <a:buSzPts val="1000"/>
              <a:buChar char="●"/>
            </a:pPr>
            <a:r>
              <a:rPr lang="uk" sz="1000"/>
              <a:t>Погано працює для прозорих/напівпрозорих об'єктів.</a:t>
            </a:r>
            <a:endParaRPr/>
          </a:p>
        </p:txBody>
      </p:sp>
      <p:sp>
        <p:nvSpPr>
          <p:cNvPr id="142" name="Google Shape;142;p25"/>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https://arxiv.org/pdf/2212.11613</a:t>
            </a:r>
            <a:r>
              <a:rPr lang="uk" sz="1100">
                <a:solidFill>
                  <a:schemeClr val="dk1"/>
                </a:solidFill>
              </a:rPr>
              <a:t>) Kang, X., Yang, T., Ouyang, W., Ren, P., Li, L., &amp; Xie, X. (2023). Ddcolor: Towards photo-realistic image colorization via dual decoders. In Proceedings of the IEEE/CVF International Conference on Computer Vision (pp. 328-338).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Colorization transformer</a:t>
            </a:r>
            <a:endParaRPr/>
          </a:p>
        </p:txBody>
      </p:sp>
      <p:sp>
        <p:nvSpPr>
          <p:cNvPr id="148" name="Google Shape;148;p26"/>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Т</a:t>
            </a:r>
            <a:r>
              <a:rPr lang="uk"/>
              <a:t>рансформер-архітектура для кольоризації чорно-білих зображень. Модель складається з умовного автозагорткового трансформера, який генерує низькодетальне кольорове зображення, а потім дві паралельні мережі підвищують роздільність до високої. Експерименти показали, що модель генерує яскраві, реалістичні кольори, іноді навіть за перевагою людини порівняно з оригіналом</a:t>
            </a:r>
            <a:r>
              <a:rPr lang="uk"/>
              <a:t>.</a:t>
            </a:r>
            <a:endParaRPr/>
          </a:p>
          <a:p>
            <a:pPr indent="0" lvl="0" marL="0" rtl="0" algn="l">
              <a:spcBef>
                <a:spcPts val="1200"/>
              </a:spcBef>
              <a:spcAft>
                <a:spcPts val="1200"/>
              </a:spcAft>
              <a:buNone/>
            </a:pPr>
            <a:r>
              <a:rPr lang="uk"/>
              <a:t>Прогалини</a:t>
            </a:r>
            <a:r>
              <a:rPr lang="uk"/>
              <a:t>: Відсутня інтерактивність та о</a:t>
            </a:r>
            <a:r>
              <a:rPr lang="uk"/>
              <a:t>бмежено відео</a:t>
            </a:r>
            <a:r>
              <a:rPr lang="uk"/>
              <a:t>.</a:t>
            </a:r>
            <a:endParaRPr/>
          </a:p>
        </p:txBody>
      </p:sp>
      <p:sp>
        <p:nvSpPr>
          <p:cNvPr id="149" name="Google Shape;149;p26"/>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https://arxiv.org/pdf/2102.04432</a:t>
            </a:r>
            <a:r>
              <a:rPr lang="uk" sz="1100">
                <a:solidFill>
                  <a:schemeClr val="dk1"/>
                </a:solidFill>
              </a:rPr>
              <a:t>) Kumar, M., Weissenborn, D., &amp; Kalchbrenner, N. (2021). Colorization transformer. arXiv preprint arXiv:2102.04432.</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Learning representations for automatic colorization</a:t>
            </a:r>
            <a:endParaRPr/>
          </a:p>
        </p:txBody>
      </p:sp>
      <p:sp>
        <p:nvSpPr>
          <p:cNvPr id="155" name="Google Shape;155;p27"/>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автоматичної кольоризації зображень без втручання користувача — модель навчається передбачати колір на кожному пікселі, використовуючи глибинні нейронні мережі для вилучення семантики та локальних ознак</a:t>
            </a:r>
            <a:r>
              <a:rPr lang="uk"/>
              <a:t>.</a:t>
            </a:r>
            <a:endParaRPr/>
          </a:p>
          <a:p>
            <a:pPr indent="0" lvl="0" marL="0" rtl="0" algn="l">
              <a:spcBef>
                <a:spcPts val="1200"/>
              </a:spcBef>
              <a:spcAft>
                <a:spcPts val="1200"/>
              </a:spcAft>
              <a:buNone/>
            </a:pPr>
            <a:r>
              <a:rPr lang="uk"/>
              <a:t>Прогалини</a:t>
            </a:r>
            <a:r>
              <a:rPr lang="uk"/>
              <a:t>: </a:t>
            </a:r>
            <a:r>
              <a:rPr lang="uk"/>
              <a:t>Не інтерактивна, обмежено для відео</a:t>
            </a:r>
            <a:r>
              <a:rPr lang="uk"/>
              <a:t>.</a:t>
            </a:r>
            <a:endParaRPr/>
          </a:p>
        </p:txBody>
      </p:sp>
      <p:sp>
        <p:nvSpPr>
          <p:cNvPr id="156" name="Google Shape;156;p27"/>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https://arxiv.org/pdf/1603.06668</a:t>
            </a:r>
            <a:r>
              <a:rPr lang="uk" sz="1100">
                <a:solidFill>
                  <a:schemeClr val="dk1"/>
                </a:solidFill>
              </a:rPr>
              <a:t>) Larsson, G., Maire, M., &amp; Shakhnarovich, G. (2016, September). Learning representations for automatic colorization. In European conference on computer vision (pp. 577-593). Cham: Springer International Publishing.</a:t>
            </a:r>
            <a:endParaRPr sz="1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Control Color: Multimodal Diffusion-based Interactive Image Colorization</a:t>
            </a:r>
            <a:endParaRPr sz="2500"/>
          </a:p>
        </p:txBody>
      </p:sp>
      <p:sp>
        <p:nvSpPr>
          <p:cNvPr id="162" name="Google Shape;162;p28"/>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CtrlColor — мультимодальна модель кольоризації зображень, що поєднує текстові підказки, ескізи та еталони для висококонтрольованої інтерактивної кольоризації. Модель використовує попередньо навчену Stable Diffusion, доповнену новими модулями для точного локального контролю кольору та запобігання кольоровому перенасиченню</a:t>
            </a:r>
            <a:r>
              <a:rPr lang="uk"/>
              <a:t>.</a:t>
            </a:r>
            <a:endParaRPr/>
          </a:p>
          <a:p>
            <a:pPr indent="0" lvl="0" marL="0" rtl="0" algn="l">
              <a:spcBef>
                <a:spcPts val="1200"/>
              </a:spcBef>
              <a:spcAft>
                <a:spcPts val="1200"/>
              </a:spcAft>
              <a:buNone/>
            </a:pPr>
            <a:r>
              <a:rPr lang="uk"/>
              <a:t>Прогалини</a:t>
            </a:r>
            <a:r>
              <a:rPr lang="uk"/>
              <a:t>: </a:t>
            </a:r>
            <a:r>
              <a:rPr lang="uk"/>
              <a:t>Обмежена багатоваріантність</a:t>
            </a:r>
            <a:r>
              <a:rPr lang="uk"/>
              <a:t>.</a:t>
            </a:r>
            <a:endParaRPr/>
          </a:p>
        </p:txBody>
      </p:sp>
      <p:sp>
        <p:nvSpPr>
          <p:cNvPr id="163" name="Google Shape;163;p28"/>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https://arxiv.org/pdf/2402.10855</a:t>
            </a:r>
            <a:r>
              <a:rPr lang="uk" sz="1100">
                <a:solidFill>
                  <a:schemeClr val="dk1"/>
                </a:solidFill>
              </a:rPr>
              <a:t>) Liang, Z., Li, Z., Zhou, S., Li, C., &amp; Loy, C. C. (2025). Control Color: Multimodal Diffusion-Based Interactive Image Colorization: Z. Liang et al. International Journal of Computer Vision, 1-27.</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Image colorization using cnns and inception-resnet-v2</a:t>
            </a:r>
            <a:endParaRPr/>
          </a:p>
        </p:txBody>
      </p:sp>
      <p:sp>
        <p:nvSpPr>
          <p:cNvPr id="169" name="Google Shape;169;p29"/>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одель кольоризації зображень, яка поєднує глибоку згорткову нейронну мережу, навчену з нуля, з високорівневими ознаками, отриманими з попередньо навченого Inception-ResNet-v2. Архітектура енкодер-декодер дозволяє обробляти зображення будь-якого розміру та співвідношення сторін.</a:t>
            </a:r>
            <a:endParaRPr/>
          </a:p>
          <a:p>
            <a:pPr indent="0" lvl="0" marL="0" rtl="0" algn="l">
              <a:spcBef>
                <a:spcPts val="1200"/>
              </a:spcBef>
              <a:spcAft>
                <a:spcPts val="1200"/>
              </a:spcAft>
              <a:buNone/>
            </a:pPr>
            <a:r>
              <a:rPr lang="uk"/>
              <a:t>Прогалини</a:t>
            </a:r>
            <a:r>
              <a:rPr lang="uk"/>
              <a:t>: </a:t>
            </a:r>
            <a:r>
              <a:rPr lang="uk"/>
              <a:t>Не інтерактивна, не багатоваріантна</a:t>
            </a:r>
            <a:r>
              <a:rPr lang="uk"/>
              <a:t>.</a:t>
            </a:r>
            <a:endParaRPr/>
          </a:p>
        </p:txBody>
      </p:sp>
      <p:sp>
        <p:nvSpPr>
          <p:cNvPr id="170" name="Google Shape;170;p29"/>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https://arxiv.org/pdf/1712.03400</a:t>
            </a:r>
            <a:r>
              <a:rPr lang="uk" sz="1100">
                <a:solidFill>
                  <a:schemeClr val="dk1"/>
                </a:solidFill>
              </a:rPr>
              <a:t>) Baldassarre, F., Morín, D. G., &amp; Rodés-Guirao, L. (2017). Deep koalarization: Image colorization using cnns and inception-resnet-v2. arXiv preprint arXiv:1712.03400.</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Palette: Image-to-image diffusion models</a:t>
            </a:r>
            <a:endParaRPr/>
          </a:p>
        </p:txBody>
      </p:sp>
      <p:sp>
        <p:nvSpPr>
          <p:cNvPr id="176" name="Google Shape;176;p30"/>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У</a:t>
            </a:r>
            <a:r>
              <a:rPr lang="uk"/>
              <a:t>ніфікована архітектура для перетворення зображень, що ґрунтується на умовних дифузійних моделях. Модель демонструє конкурентоспроможні результати в завданнях кольоризації, відновлення, розширення та JPEG-відновлення, перевершуючи сильні базові моделі GAN та регресії без необхідності в налаштуванні гіперпараметрів або складних технік.</a:t>
            </a:r>
            <a:endParaRPr/>
          </a:p>
          <a:p>
            <a:pPr indent="0" lvl="0" marL="0" rtl="0" algn="l">
              <a:spcBef>
                <a:spcPts val="1200"/>
              </a:spcBef>
              <a:spcAft>
                <a:spcPts val="1200"/>
              </a:spcAft>
              <a:buNone/>
            </a:pPr>
            <a:r>
              <a:rPr lang="uk"/>
              <a:t>Прогалини</a:t>
            </a:r>
            <a:r>
              <a:rPr lang="uk"/>
              <a:t>: </a:t>
            </a:r>
            <a:r>
              <a:rPr lang="uk"/>
              <a:t>Не інтерактивна</a:t>
            </a:r>
            <a:r>
              <a:rPr lang="uk"/>
              <a:t>.</a:t>
            </a:r>
            <a:endParaRPr/>
          </a:p>
        </p:txBody>
      </p:sp>
      <p:sp>
        <p:nvSpPr>
          <p:cNvPr id="177" name="Google Shape;177;p30"/>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https://arxiv.org/pdf/2111.05826</a:t>
            </a:r>
            <a:r>
              <a:rPr lang="uk" sz="1100">
                <a:solidFill>
                  <a:schemeClr val="dk1"/>
                </a:solidFill>
              </a:rPr>
              <a:t>) Saharia, C., Chan, W., Chang, H., Lee, C., Ho, J., Salimans, T., ... &amp; Norouzi, M. (2022, July). Palette: Image-to-image diffusion models. In ACM SIGGRAPH 2022 conference proceedings (pp. 1-10).</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Instance-aware image colorization</a:t>
            </a:r>
            <a:endParaRPr/>
          </a:p>
        </p:txBody>
      </p:sp>
      <p:sp>
        <p:nvSpPr>
          <p:cNvPr id="183" name="Google Shape;183;p31"/>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кольоризації зображень, орієнтуючись на окремі об'єкти. Використовуючи попередньо навчену модель для виявлення об'єктів, система отримує обрізані зображення об'єктів і застосовує мережу кольоризації для кожного з них. Потім результати об'єднуються з кольоризацією всього зображення, що дозволяє досягти більш природних і контекстно відповідних кольорів</a:t>
            </a:r>
            <a:r>
              <a:rPr lang="uk"/>
              <a:t>.</a:t>
            </a:r>
            <a:endParaRPr/>
          </a:p>
          <a:p>
            <a:pPr indent="0" lvl="0" marL="0" rtl="0" algn="l">
              <a:spcBef>
                <a:spcPts val="1200"/>
              </a:spcBef>
              <a:spcAft>
                <a:spcPts val="1200"/>
              </a:spcAft>
              <a:buNone/>
            </a:pPr>
            <a:r>
              <a:rPr lang="uk"/>
              <a:t>Прогалини</a:t>
            </a:r>
            <a:r>
              <a:rPr lang="uk"/>
              <a:t>: Відсутня </a:t>
            </a:r>
            <a:r>
              <a:rPr lang="uk"/>
              <a:t>інтерактивність та багатоваріантність</a:t>
            </a:r>
            <a:r>
              <a:rPr lang="uk"/>
              <a:t>.</a:t>
            </a:r>
            <a:endParaRPr/>
          </a:p>
        </p:txBody>
      </p:sp>
      <p:sp>
        <p:nvSpPr>
          <p:cNvPr id="184" name="Google Shape;184;p31"/>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https://arxiv.org/pdf/2005.10825</a:t>
            </a:r>
            <a:r>
              <a:rPr lang="uk" sz="1100">
                <a:solidFill>
                  <a:schemeClr val="dk1"/>
                </a:solidFill>
              </a:rPr>
              <a:t>) Su, J. W., Chu, H. K., &amp; Huang, J. B. (2020). Instance-aware image colorization. In Proceedings of the IEEE/CVF conference on computer vision and pattern recognition (pp. 7968-7977).</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Chromagan: Adversarial picture colorization with semantic class distribution</a:t>
            </a:r>
            <a:endParaRPr sz="2500"/>
          </a:p>
        </p:txBody>
      </p:sp>
      <p:sp>
        <p:nvSpPr>
          <p:cNvPr id="190" name="Google Shape;190;p32"/>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кольоризації чорно-білих зображень, що поєднує генеративні змагальні мережі (GAN) із семантичними підказками. Модель навчається без нагляду, використовуючи інформацію про класи об'єктів для генерації реалістичних кольорових зображень</a:t>
            </a:r>
            <a:r>
              <a:rPr lang="uk"/>
              <a:t>.</a:t>
            </a:r>
            <a:endParaRPr/>
          </a:p>
          <a:p>
            <a:pPr indent="0" lvl="0" marL="0" rtl="0" algn="l">
              <a:spcBef>
                <a:spcPts val="1200"/>
              </a:spcBef>
              <a:spcAft>
                <a:spcPts val="1200"/>
              </a:spcAft>
              <a:buNone/>
            </a:pPr>
            <a:r>
              <a:rPr lang="uk"/>
              <a:t>Прогалини</a:t>
            </a:r>
            <a:r>
              <a:rPr lang="uk"/>
              <a:t>: </a:t>
            </a:r>
            <a:r>
              <a:rPr lang="uk"/>
              <a:t>Не багатоваріантна, не інтерактивна</a:t>
            </a:r>
            <a:r>
              <a:rPr lang="uk"/>
              <a:t>.</a:t>
            </a:r>
            <a:endParaRPr/>
          </a:p>
        </p:txBody>
      </p:sp>
      <p:sp>
        <p:nvSpPr>
          <p:cNvPr id="191" name="Google Shape;191;p32"/>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https://arxiv.org/pdf/1907.09837</a:t>
            </a:r>
            <a:r>
              <a:rPr lang="uk" sz="1100">
                <a:solidFill>
                  <a:schemeClr val="dk1"/>
                </a:solidFill>
              </a:rPr>
              <a:t>) Vitoria, P., Raad, L., &amp; Ballester, C. (2020). Chromagan: Adversarial picture colorization with semantic class distribution. In Proceedings of the IEEE/CVF winter conference on applications of computer vision (pp. 2445-2454).</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445025"/>
            <a:ext cx="8520600" cy="96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SzPts val="990"/>
              <a:buNone/>
            </a:pPr>
            <a:r>
              <a:rPr lang="uk" sz="2520"/>
              <a:t>iColoriT: Towards propagating local hints to the right region in interactive colorization by leveraging vision transformer</a:t>
            </a:r>
            <a:endParaRPr sz="2520"/>
          </a:p>
        </p:txBody>
      </p:sp>
      <p:sp>
        <p:nvSpPr>
          <p:cNvPr id="197" name="Google Shape;197;p33"/>
          <p:cNvSpPr txBox="1"/>
          <p:nvPr>
            <p:ph idx="1" type="body"/>
          </p:nvPr>
        </p:nvSpPr>
        <p:spPr>
          <a:xfrm>
            <a:off x="311700" y="1405625"/>
            <a:ext cx="8520600" cy="3163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uk"/>
              <a:t>Анотація: Н</a:t>
            </a:r>
            <a:r>
              <a:rPr lang="uk"/>
              <a:t>овий підхід до кольоризації зображень за допомогою Vision Transformer. Модель iColoriT ефективно розповсюджує кольори, задані користувачем у конкретних точках, на відповідні області зображення, використовуючи механізм самоуваги трансформера. Це дозволяє досягти високої точності кольоризації з мінімальними зусиллями з боку користувача</a:t>
            </a:r>
            <a:r>
              <a:rPr lang="uk"/>
              <a:t>.</a:t>
            </a:r>
            <a:endParaRPr/>
          </a:p>
          <a:p>
            <a:pPr indent="0" lvl="0" marL="0" rtl="0" algn="l">
              <a:spcBef>
                <a:spcPts val="1200"/>
              </a:spcBef>
              <a:spcAft>
                <a:spcPts val="0"/>
              </a:spcAft>
              <a:buNone/>
            </a:pPr>
            <a:r>
              <a:rPr lang="uk"/>
              <a:t>Прогалини</a:t>
            </a:r>
            <a:r>
              <a:rPr lang="uk"/>
              <a:t>: </a:t>
            </a:r>
            <a:r>
              <a:rPr lang="uk"/>
              <a:t>Обмежена підтримка відео, обмежена інтерактивність, відсутня багатоваріантність</a:t>
            </a:r>
            <a:r>
              <a:rPr lang="uk"/>
              <a:t>.</a:t>
            </a:r>
            <a:endParaRPr/>
          </a:p>
          <a:p>
            <a:pPr indent="0" lvl="0" marL="0" rtl="0" algn="l">
              <a:spcBef>
                <a:spcPts val="1200"/>
              </a:spcBef>
              <a:spcAft>
                <a:spcPts val="0"/>
              </a:spcAft>
              <a:buClr>
                <a:schemeClr val="dk1"/>
              </a:buClr>
              <a:buSzPts val="1100"/>
              <a:buFont typeface="Arial"/>
              <a:buNone/>
            </a:pPr>
            <a:r>
              <a:rPr lang="uk" sz="1000"/>
              <a:t>Прогалини вказані у самому документі: </a:t>
            </a:r>
            <a:endParaRPr sz="1000"/>
          </a:p>
          <a:p>
            <a:pPr indent="-292100" lvl="0" marL="457200" rtl="0" algn="l">
              <a:spcBef>
                <a:spcPts val="1200"/>
              </a:spcBef>
              <a:spcAft>
                <a:spcPts val="0"/>
              </a:spcAft>
              <a:buSzPts val="1000"/>
              <a:buChar char="●"/>
            </a:pPr>
            <a:r>
              <a:rPr lang="uk" sz="1000"/>
              <a:t>Погано колоризує малі предмети, які мають однакову інтенсивність і знаходяться поруч.</a:t>
            </a:r>
            <a:endParaRPr/>
          </a:p>
        </p:txBody>
      </p:sp>
      <p:sp>
        <p:nvSpPr>
          <p:cNvPr id="198" name="Google Shape;198;p33"/>
          <p:cNvSpPr txBox="1"/>
          <p:nvPr/>
        </p:nvSpPr>
        <p:spPr>
          <a:xfrm>
            <a:off x="311700" y="4568875"/>
            <a:ext cx="8520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https://arxiv.org/pdf/2207.06831</a:t>
            </a:r>
            <a:r>
              <a:rPr lang="uk" sz="1100">
                <a:solidFill>
                  <a:schemeClr val="dk1"/>
                </a:solidFill>
              </a:rPr>
              <a:t>) Yun, J., Lee, S., Park, M., &amp; Choo, J. (2023). iColoriT: Towards propagating local hints to the right region in interactive colorization by leveraging vision transformer. In Proceedings of the IEEE/CVF winter conference on applications of computer vision (pp. 1787-1796).</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311700" y="445025"/>
            <a:ext cx="8520600" cy="96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SzPts val="990"/>
              <a:buNone/>
            </a:pPr>
            <a:r>
              <a:rPr lang="uk" sz="2520"/>
              <a:t>Diffusing colors: Image colorization with text guided diffusion</a:t>
            </a:r>
            <a:endParaRPr sz="2520"/>
          </a:p>
        </p:txBody>
      </p:sp>
      <p:sp>
        <p:nvSpPr>
          <p:cNvPr id="204" name="Google Shape;204;p34"/>
          <p:cNvSpPr txBox="1"/>
          <p:nvPr>
            <p:ph idx="1" type="body"/>
          </p:nvPr>
        </p:nvSpPr>
        <p:spPr>
          <a:xfrm>
            <a:off x="311700" y="1405625"/>
            <a:ext cx="8520600" cy="316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Н</a:t>
            </a:r>
            <a:r>
              <a:rPr lang="uk"/>
              <a:t>овий підхід до кольоризації чорно-білих зображень, що поєднує дифузійні моделі з текстовими підказками. Модель дозволяє досягти високої якості кольоризації та семантичної узгодженості, а також надає користувачам контроль над рівнем насиченості кольорів за допомогою CLIP-орієнтованого ранжування</a:t>
            </a:r>
            <a:r>
              <a:rPr lang="uk"/>
              <a:t>.</a:t>
            </a:r>
            <a:endParaRPr/>
          </a:p>
          <a:p>
            <a:pPr indent="0" lvl="0" marL="0" rtl="0" algn="l">
              <a:spcBef>
                <a:spcPts val="1200"/>
              </a:spcBef>
              <a:spcAft>
                <a:spcPts val="1200"/>
              </a:spcAft>
              <a:buNone/>
            </a:pPr>
            <a:r>
              <a:rPr lang="uk"/>
              <a:t>Прогалини</a:t>
            </a:r>
            <a:r>
              <a:rPr lang="uk"/>
              <a:t>: Відсутня багатоваріантність. </a:t>
            </a:r>
            <a:r>
              <a:rPr lang="uk"/>
              <a:t>Не для відео</a:t>
            </a:r>
            <a:r>
              <a:rPr lang="uk"/>
              <a:t>.</a:t>
            </a:r>
            <a:endParaRPr/>
          </a:p>
        </p:txBody>
      </p:sp>
      <p:sp>
        <p:nvSpPr>
          <p:cNvPr id="205" name="Google Shape;205;p34"/>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https://arxiv.org/pdf/2312.04145v1</a:t>
            </a:r>
            <a:r>
              <a:rPr lang="uk" sz="1100">
                <a:solidFill>
                  <a:schemeClr val="dk1"/>
                </a:solidFill>
              </a:rPr>
              <a:t>) Zabari, N., Azulay, A., Gorkor, A., Halperin, T., &amp; Fried, O. (2023, December). Diffusing colors: Image colorization with text guided diffusion. In SIGGRAPH Asia 2023 Conference Papers (pp. 1-11).</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Colorful image colorization</a:t>
            </a:r>
            <a:endParaRPr/>
          </a:p>
        </p:txBody>
      </p:sp>
      <p:sp>
        <p:nvSpPr>
          <p:cNvPr id="211" name="Google Shape;211;p35"/>
          <p:cNvSpPr txBox="1"/>
          <p:nvPr>
            <p:ph idx="1" type="body"/>
          </p:nvPr>
        </p:nvSpPr>
        <p:spPr>
          <a:xfrm>
            <a:off x="311700" y="1017725"/>
            <a:ext cx="85206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Модель використовує глибоку згорткову нейронну мережу, яка передбачає розподіл можливих кольорів для кожного пікселя, враховуючи багатозначність кольорів. Для навчання застосовано класове перерозподілення, що збільшує різноманітність кольорів у результатах. </a:t>
            </a:r>
            <a:endParaRPr/>
          </a:p>
          <a:p>
            <a:pPr indent="0" lvl="0" marL="0" rtl="0" algn="l">
              <a:spcBef>
                <a:spcPts val="1200"/>
              </a:spcBef>
              <a:spcAft>
                <a:spcPts val="1200"/>
              </a:spcAft>
              <a:buNone/>
            </a:pPr>
            <a:r>
              <a:rPr lang="uk"/>
              <a:t>Прогалини</a:t>
            </a:r>
            <a:r>
              <a:rPr lang="uk"/>
              <a:t>: </a:t>
            </a:r>
            <a:r>
              <a:rPr lang="uk"/>
              <a:t>Не інтерактивна</a:t>
            </a:r>
            <a:r>
              <a:rPr lang="uk"/>
              <a:t>.</a:t>
            </a:r>
            <a:r>
              <a:rPr lang="uk"/>
              <a:t> Не для відео.</a:t>
            </a:r>
            <a:endParaRPr/>
          </a:p>
        </p:txBody>
      </p:sp>
      <p:sp>
        <p:nvSpPr>
          <p:cNvPr id="212" name="Google Shape;212;p35"/>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https://arxiv.org/pdf/1603.08511</a:t>
            </a:r>
            <a:r>
              <a:rPr lang="uk" sz="1100">
                <a:solidFill>
                  <a:schemeClr val="dk1"/>
                </a:solidFill>
              </a:rPr>
              <a:t>) Zhang, R., Isola, P., &amp; Efros, A. A. (2016, September). Colorful image colorization. In European conference on computer vision (pp. 649-666). Cham: Springer International Publishing.</a:t>
            </a:r>
            <a:endParaRPr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445025"/>
            <a:ext cx="8520600" cy="96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SzPts val="990"/>
              <a:buNone/>
            </a:pPr>
            <a:r>
              <a:rPr lang="uk" sz="2520"/>
              <a:t>Real-time user-guided image colorization with learned deep priors</a:t>
            </a:r>
            <a:endParaRPr sz="2520"/>
          </a:p>
        </p:txBody>
      </p:sp>
      <p:sp>
        <p:nvSpPr>
          <p:cNvPr id="218" name="Google Shape;218;p36"/>
          <p:cNvSpPr txBox="1"/>
          <p:nvPr>
            <p:ph idx="1" type="body"/>
          </p:nvPr>
        </p:nvSpPr>
        <p:spPr>
          <a:xfrm>
            <a:off x="311700" y="1405625"/>
            <a:ext cx="8520600" cy="316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кольоризації чорно-білих зображень, який поєднує глибоке навчання з інтерактивними підказками користувача. Модель використовує згорткову нейронну мережу для відображення чорно-білого зображення та локальних підказок користувача в кольорову версію. Система пропонує рекомендації щодо кольорів на основі вхідного зображення та поточних підказок користувача, що дозволяє досягти реального часу генерації. Навіть за умов випадкових підказок користувача, система допомагає новачкам швидко створювати реалістичні кольорові зображення.</a:t>
            </a:r>
            <a:endParaRPr/>
          </a:p>
          <a:p>
            <a:pPr indent="0" lvl="0" marL="0" rtl="0" algn="l">
              <a:spcBef>
                <a:spcPts val="1200"/>
              </a:spcBef>
              <a:spcAft>
                <a:spcPts val="1200"/>
              </a:spcAft>
              <a:buNone/>
            </a:pPr>
            <a:r>
              <a:rPr lang="uk"/>
              <a:t>Прогалини</a:t>
            </a:r>
            <a:r>
              <a:rPr lang="uk"/>
              <a:t>: Обмежена Інтерактивність. </a:t>
            </a:r>
            <a:r>
              <a:rPr lang="uk"/>
              <a:t>Не для відео.</a:t>
            </a:r>
            <a:endParaRPr/>
          </a:p>
        </p:txBody>
      </p:sp>
      <p:sp>
        <p:nvSpPr>
          <p:cNvPr id="219" name="Google Shape;219;p36"/>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https://arxiv.org/pdf/1705.02999</a:t>
            </a:r>
            <a:r>
              <a:rPr lang="uk" sz="1100">
                <a:solidFill>
                  <a:schemeClr val="dk1"/>
                </a:solidFill>
              </a:rPr>
              <a:t>) Zhang, R., Zhu, J. Y., Isola, P., Geng, X., Lin, A. S., Yu, T., &amp; Efros, A. A. (2017). Real-time user-guided image colorization with learned deep priors. arXiv preprint arXiv:1705.02999.</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Unpaired image-to-image translation using cycle-consistent adversarial networks</a:t>
            </a:r>
            <a:endParaRPr sz="2500"/>
          </a:p>
        </p:txBody>
      </p:sp>
      <p:sp>
        <p:nvSpPr>
          <p:cNvPr id="225" name="Google Shape;225;p37"/>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для навчання перетворення зображень з одного домену в інший без необхідності мати пари відповідних зображень. Модель використовує циклічну консистентність та суперечливе навчання для досягнення високоякісних перетворень, таких як передача стилю, трансфігурація об'єктів та покращення фотографій.</a:t>
            </a:r>
            <a:endParaRPr/>
          </a:p>
          <a:p>
            <a:pPr indent="0" lvl="0" marL="0" rtl="0" algn="l">
              <a:spcBef>
                <a:spcPts val="1200"/>
              </a:spcBef>
              <a:spcAft>
                <a:spcPts val="1200"/>
              </a:spcAft>
              <a:buNone/>
            </a:pPr>
            <a:r>
              <a:rPr lang="uk"/>
              <a:t>Прогалини: </a:t>
            </a:r>
            <a:r>
              <a:rPr lang="uk"/>
              <a:t>Не інтерактивне, не багатоваріантне, не для відео.</a:t>
            </a:r>
            <a:endParaRPr/>
          </a:p>
        </p:txBody>
      </p:sp>
      <p:sp>
        <p:nvSpPr>
          <p:cNvPr id="226" name="Google Shape;226;p37"/>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https://arxiv.org/pdf/1703.10593</a:t>
            </a:r>
            <a:r>
              <a:rPr lang="uk" sz="1100">
                <a:solidFill>
                  <a:schemeClr val="dk1"/>
                </a:solidFill>
              </a:rPr>
              <a:t>) Zhu, J. Y., Park, T., Isola, P., &amp; Efros, A. A. (2017). Unpaired image-to-image translation using cycle-consistent adversarial networks. In Proceedings of the IEEE international conference on computer vision (pp. 2223-2232).</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445025"/>
            <a:ext cx="8520600" cy="412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uk"/>
              <a:t>Video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Stable video diffusion: Scaling latent video diffusion models to large datasets</a:t>
            </a:r>
            <a:endParaRPr sz="2500"/>
          </a:p>
        </p:txBody>
      </p:sp>
      <p:sp>
        <p:nvSpPr>
          <p:cNvPr id="237" name="Google Shape;237;p39"/>
          <p:cNvSpPr txBox="1"/>
          <p:nvPr>
            <p:ph idx="1" type="body"/>
          </p:nvPr>
        </p:nvSpPr>
        <p:spPr>
          <a:xfrm>
            <a:off x="311700" y="1399325"/>
            <a:ext cx="8520600" cy="31695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uk"/>
              <a:t>Анотація: </a:t>
            </a:r>
            <a:r>
              <a:rPr lang="uk"/>
              <a:t>Представлено стабільну відео-дифузійну модель для високоякісної генерації відео з тексту та зображень.</a:t>
            </a:r>
            <a:endParaRPr/>
          </a:p>
          <a:p>
            <a:pPr indent="0" lvl="0" marL="0" rtl="0" algn="l">
              <a:spcBef>
                <a:spcPts val="1200"/>
              </a:spcBef>
              <a:spcAft>
                <a:spcPts val="0"/>
              </a:spcAft>
              <a:buNone/>
            </a:pPr>
            <a:r>
              <a:rPr lang="uk"/>
              <a:t>Розглянуто три етапи тренування: текст→зображення, попереднє тренування на відео та коригування на якісних відео.</a:t>
            </a:r>
            <a:endParaRPr/>
          </a:p>
          <a:p>
            <a:pPr indent="0" lvl="0" marL="0" rtl="0" algn="l">
              <a:spcBef>
                <a:spcPts val="1200"/>
              </a:spcBef>
              <a:spcAft>
                <a:spcPts val="0"/>
              </a:spcAft>
              <a:buNone/>
            </a:pPr>
            <a:r>
              <a:rPr lang="uk"/>
              <a:t>Запропоновано системну куритацію даних для високої якості генерації. Модель ефективно відтворює рух, підтримує image-to-video та multi-view генерацію, забезпечуючи конкурентні результати при менших обчислювальних витратах</a:t>
            </a:r>
            <a:r>
              <a:rPr lang="uk"/>
              <a:t>.</a:t>
            </a:r>
            <a:endParaRPr/>
          </a:p>
          <a:p>
            <a:pPr indent="0" lvl="0" marL="0" rtl="0" algn="l">
              <a:spcBef>
                <a:spcPts val="1200"/>
              </a:spcBef>
              <a:spcAft>
                <a:spcPts val="1200"/>
              </a:spcAft>
              <a:buNone/>
            </a:pPr>
            <a:r>
              <a:rPr lang="uk"/>
              <a:t>Прогалини</a:t>
            </a:r>
            <a:r>
              <a:rPr lang="uk"/>
              <a:t>: Відсутні інтерактивність </a:t>
            </a:r>
            <a:r>
              <a:rPr lang="uk"/>
              <a:t>та </a:t>
            </a:r>
            <a:r>
              <a:rPr lang="uk"/>
              <a:t>багатоваріантність</a:t>
            </a:r>
            <a:r>
              <a:rPr lang="uk"/>
              <a:t> у тих значеннях, які очікуються</a:t>
            </a:r>
            <a:r>
              <a:rPr lang="uk"/>
              <a:t>.</a:t>
            </a:r>
            <a:endParaRPr/>
          </a:p>
        </p:txBody>
      </p:sp>
      <p:sp>
        <p:nvSpPr>
          <p:cNvPr id="238" name="Google Shape;238;p39"/>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https://arxiv.org/pdf/2311.15127</a:t>
            </a:r>
            <a:r>
              <a:rPr lang="uk" sz="1100">
                <a:solidFill>
                  <a:schemeClr val="dk1"/>
                </a:solidFill>
              </a:rPr>
              <a:t>) Blattmann, A., Dockhorn, T., Kulal, S., Mendelevitch, D., Kilian, M., Lorenz, D., ... &amp; Rombach, R. (2023). Stable video diffusion: Scaling latent video diffusion models to large datasets. arXiv preprint arXiv:2311.15127.</a:t>
            </a:r>
            <a:endParaRPr sz="11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VanGogh: A Unified Multimodal Diffusion-based Framework for Video Colorization</a:t>
            </a:r>
            <a:endParaRPr sz="2500"/>
          </a:p>
        </p:txBody>
      </p:sp>
      <p:sp>
        <p:nvSpPr>
          <p:cNvPr id="244" name="Google Shape;244;p40"/>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a:t>
            </a:r>
            <a:r>
              <a:rPr lang="uk"/>
              <a:t>Представлено VanGogh — мультимодальну дифузійну модель для кольоризації відео з тексту, глибини та потоку. Модель забезпечує користувацький контроль, зменшує артефакти та покращує узгодженість кольору, дозволяючи генерувати якісні та варіативні відео</a:t>
            </a:r>
            <a:r>
              <a:rPr lang="uk"/>
              <a:t>.</a:t>
            </a:r>
            <a:endParaRPr/>
          </a:p>
          <a:p>
            <a:pPr indent="0" lvl="0" marL="0" rtl="0" algn="l">
              <a:spcBef>
                <a:spcPts val="1200"/>
              </a:spcBef>
              <a:spcAft>
                <a:spcPts val="1200"/>
              </a:spcAft>
              <a:buNone/>
            </a:pPr>
            <a:r>
              <a:rPr lang="uk"/>
              <a:t>Прогалини</a:t>
            </a:r>
            <a:r>
              <a:rPr lang="uk"/>
              <a:t>: Відсутня багатоваріантність у тому значенні, </a:t>
            </a:r>
            <a:r>
              <a:rPr lang="uk"/>
              <a:t>яке</a:t>
            </a:r>
            <a:r>
              <a:rPr lang="uk"/>
              <a:t> очікується.</a:t>
            </a:r>
            <a:endParaRPr/>
          </a:p>
        </p:txBody>
      </p:sp>
      <p:sp>
        <p:nvSpPr>
          <p:cNvPr id="245" name="Google Shape;245;p40"/>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https://arxiv.org/pdf/2501.09499</a:t>
            </a:r>
            <a:r>
              <a:rPr lang="uk" sz="1100">
                <a:solidFill>
                  <a:schemeClr val="dk1"/>
                </a:solidFill>
              </a:rPr>
              <a:t>) Fang, Z., Liu, Z., Zhu, K., Liu, Y., Cheng, K. L., Zhai, W., ... &amp; Zha, Z. J. (2025). VanGogh: A Unified Multimodal Diffusion-based Framework for Video Colorization. arXiv preprint arXiv:2501.09499.</a:t>
            </a:r>
            <a:endParaRPr sz="1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Fully automatic video colorization with self-regularization and diversity</a:t>
            </a:r>
            <a:endParaRPr sz="2500"/>
          </a:p>
        </p:txBody>
      </p:sp>
      <p:sp>
        <p:nvSpPr>
          <p:cNvPr id="251" name="Google Shape;251;p41"/>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А</a:t>
            </a:r>
            <a:r>
              <a:rPr lang="uk"/>
              <a:t>втоматична модель кольоризації відео без користувацьких підказок або еталонів. Модель впроваджує саморегуляризацію та вплив втрати на різноманітність для забезпечення просторово-часової узгодженості й генерації кількох варіантів кольоризованого відео.</a:t>
            </a:r>
            <a:endParaRPr/>
          </a:p>
          <a:p>
            <a:pPr indent="0" lvl="0" marL="0" rtl="0" algn="l">
              <a:spcBef>
                <a:spcPts val="1200"/>
              </a:spcBef>
              <a:spcAft>
                <a:spcPts val="0"/>
              </a:spcAft>
              <a:buNone/>
            </a:pPr>
            <a:r>
              <a:rPr lang="uk"/>
              <a:t>Прогалини</a:t>
            </a:r>
            <a:r>
              <a:rPr lang="uk"/>
              <a:t>: </a:t>
            </a:r>
            <a:r>
              <a:rPr lang="uk"/>
              <a:t>Відсутня взаємодія користувача</a:t>
            </a:r>
            <a:r>
              <a:rPr lang="uk"/>
              <a:t>.</a:t>
            </a:r>
            <a:endParaRPr/>
          </a:p>
          <a:p>
            <a:pPr indent="0" lvl="0" marL="0" rtl="0" algn="l">
              <a:spcBef>
                <a:spcPts val="1200"/>
              </a:spcBef>
              <a:spcAft>
                <a:spcPts val="0"/>
              </a:spcAft>
              <a:buClr>
                <a:schemeClr val="dk1"/>
              </a:buClr>
              <a:buSzPts val="1100"/>
              <a:buFont typeface="Arial"/>
              <a:buNone/>
            </a:pPr>
            <a:r>
              <a:rPr lang="uk" sz="1000"/>
              <a:t>Прогалини вказані у самому документі: </a:t>
            </a:r>
            <a:endParaRPr sz="1000"/>
          </a:p>
          <a:p>
            <a:pPr indent="-292100" lvl="0" marL="457200" rtl="0" algn="l">
              <a:spcBef>
                <a:spcPts val="1200"/>
              </a:spcBef>
              <a:spcAft>
                <a:spcPts val="0"/>
              </a:spcAft>
              <a:buSzPts val="1000"/>
              <a:buChar char="●"/>
            </a:pPr>
            <a:r>
              <a:rPr lang="uk" sz="1000"/>
              <a:t>Досі далеко до ідеалу по стабілізації</a:t>
            </a:r>
            <a:endParaRPr/>
          </a:p>
        </p:txBody>
      </p:sp>
      <p:sp>
        <p:nvSpPr>
          <p:cNvPr id="252" name="Google Shape;252;p41"/>
          <p:cNvSpPr txBox="1"/>
          <p:nvPr/>
        </p:nvSpPr>
        <p:spPr>
          <a:xfrm>
            <a:off x="311700" y="4568875"/>
            <a:ext cx="8520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https://arxiv.org/pdf/1908.01311</a:t>
            </a:r>
            <a:r>
              <a:rPr lang="uk" sz="1100">
                <a:solidFill>
                  <a:schemeClr val="dk1"/>
                </a:solidFill>
              </a:rPr>
              <a:t>) Lei, C., &amp; Chen, Q. (2019). Fully automatic video colorization with self-regularization and diversity. In Proceedings of the IEEE/CVF conference on computer vision and pattern recognition (pp. 3753-3761).</a:t>
            </a:r>
            <a:endParaRPr sz="1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445025"/>
            <a:ext cx="8520600" cy="954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uk" sz="2500"/>
              <a:t>Temporally consistent video colorization with deep feature propagation and self-regularization learning</a:t>
            </a:r>
            <a:endParaRPr sz="2500"/>
          </a:p>
        </p:txBody>
      </p:sp>
      <p:sp>
        <p:nvSpPr>
          <p:cNvPr id="258" name="Google Shape;258;p42"/>
          <p:cNvSpPr txBox="1"/>
          <p:nvPr>
            <p:ph idx="1" type="body"/>
          </p:nvPr>
        </p:nvSpPr>
        <p:spPr>
          <a:xfrm>
            <a:off x="311700" y="1399325"/>
            <a:ext cx="8520600" cy="316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uk"/>
              <a:t>Анотація: М</a:t>
            </a:r>
            <a:r>
              <a:rPr lang="uk"/>
              <a:t>етод кольоризації відео з високою часовою узгодженістю — TCVC (Temporally Consistent Video Colorization). Модель використовує двонаправлену пропагацію глибоких ознак між кадрами та саморегуляризацію для мінімізації різниць у прогнозах між сусідніми кадрами. Це дозволяє досягти стабільної кольоризації без необхідності у відео з еталонними кольорами для навчання.</a:t>
            </a:r>
            <a:endParaRPr/>
          </a:p>
          <a:p>
            <a:pPr indent="0" lvl="0" marL="0" rtl="0" algn="l">
              <a:spcBef>
                <a:spcPts val="1200"/>
              </a:spcBef>
              <a:spcAft>
                <a:spcPts val="1200"/>
              </a:spcAft>
              <a:buNone/>
            </a:pPr>
            <a:r>
              <a:rPr lang="uk"/>
              <a:t>Прогалини</a:t>
            </a:r>
            <a:r>
              <a:rPr lang="uk"/>
              <a:t>: Відсутня інтерактивність та </a:t>
            </a:r>
            <a:r>
              <a:rPr lang="uk"/>
              <a:t>багатоваріантність.</a:t>
            </a:r>
            <a:endParaRPr/>
          </a:p>
        </p:txBody>
      </p:sp>
      <p:sp>
        <p:nvSpPr>
          <p:cNvPr id="259" name="Google Shape;259;p42"/>
          <p:cNvSpPr txBox="1"/>
          <p:nvPr/>
        </p:nvSpPr>
        <p:spPr>
          <a:xfrm>
            <a:off x="311700" y="4568875"/>
            <a:ext cx="8520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https://arxiv.org/pdf/2110.04562</a:t>
            </a:r>
            <a:r>
              <a:rPr lang="uk" sz="1100">
                <a:solidFill>
                  <a:schemeClr val="dk1"/>
                </a:solidFill>
              </a:rPr>
              <a:t>) Liu, Y., Zhao, H., Chan, K. C., Wang, X., Loy, C. C., Qiao, Y., &amp; Dong, C. (2024). Temporally consistent video colorization with deep feature propagation and self-regularization learning. Computational visual media, 10(2), 375-395.</a:t>
            </a:r>
            <a:endParaRPr sz="11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Deep exemplar-based video colorization</a:t>
            </a:r>
            <a:endParaRPr/>
          </a:p>
        </p:txBody>
      </p:sp>
      <p:sp>
        <p:nvSpPr>
          <p:cNvPr id="265" name="Google Shape;265;p43"/>
          <p:cNvSpPr txBox="1"/>
          <p:nvPr>
            <p:ph idx="1" type="body"/>
          </p:nvPr>
        </p:nvSpPr>
        <p:spPr>
          <a:xfrm>
            <a:off x="311700" y="1017725"/>
            <a:ext cx="8520600" cy="355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uk"/>
              <a:t>Анотація: </a:t>
            </a:r>
            <a:r>
              <a:rPr lang="uk"/>
              <a:t>Основною проблемою є досягнення часової узгодженості при збереженні стилю зразка. Для вирішення цієї проблеми введено рекурентну структуру, яка об'єднує етапи семантичної відповідності та поширення кольору. Обидва етапи дозволяють заданому зразку керувати кольоризацією кожного кадру, зменшуючи накопичення помилок поширення. Кадри відео кольоризуються послідовно на основі історії кольоризації, а їх узгодженість додатково забезпечується за допомогою втрати часової узгодженості. Усі ці компоненти, навчені кінцево, допомагають створювати реалістичні відео з доброю часовою стабільністю.</a:t>
            </a:r>
            <a:endParaRPr/>
          </a:p>
          <a:p>
            <a:pPr indent="0" lvl="0" marL="0" rtl="0" algn="l">
              <a:spcBef>
                <a:spcPts val="1200"/>
              </a:spcBef>
              <a:spcAft>
                <a:spcPts val="0"/>
              </a:spcAft>
              <a:buNone/>
            </a:pPr>
            <a:r>
              <a:rPr lang="uk"/>
              <a:t>Прогалини</a:t>
            </a:r>
            <a:r>
              <a:rPr lang="uk"/>
              <a:t>: Відсутня </a:t>
            </a:r>
            <a:r>
              <a:rPr lang="uk"/>
              <a:t>інтерактивність.</a:t>
            </a:r>
            <a:endParaRPr/>
          </a:p>
          <a:p>
            <a:pPr indent="0" lvl="0" marL="0" rtl="0" algn="l">
              <a:spcBef>
                <a:spcPts val="1200"/>
              </a:spcBef>
              <a:spcAft>
                <a:spcPts val="0"/>
              </a:spcAft>
              <a:buClr>
                <a:schemeClr val="dk1"/>
              </a:buClr>
              <a:buSzPts val="1100"/>
              <a:buFont typeface="Arial"/>
              <a:buNone/>
            </a:pPr>
            <a:r>
              <a:rPr lang="uk" sz="1000"/>
              <a:t>Прогалини вказані у самому документі: </a:t>
            </a:r>
            <a:endParaRPr sz="1000"/>
          </a:p>
          <a:p>
            <a:pPr indent="-292100" lvl="0" marL="457200" rtl="0" algn="l">
              <a:spcBef>
                <a:spcPts val="1200"/>
              </a:spcBef>
              <a:spcAft>
                <a:spcPts val="0"/>
              </a:spcAft>
              <a:buSzPts val="1000"/>
              <a:buChar char="●"/>
            </a:pPr>
            <a:r>
              <a:rPr lang="uk" sz="1000"/>
              <a:t>Погана стабілізація на протязі багатьох кадрів</a:t>
            </a:r>
            <a:endParaRPr/>
          </a:p>
        </p:txBody>
      </p:sp>
      <p:sp>
        <p:nvSpPr>
          <p:cNvPr id="266" name="Google Shape;266;p43"/>
          <p:cNvSpPr txBox="1"/>
          <p:nvPr/>
        </p:nvSpPr>
        <p:spPr>
          <a:xfrm>
            <a:off x="311700" y="4568875"/>
            <a:ext cx="8520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100">
                <a:solidFill>
                  <a:schemeClr val="dk1"/>
                </a:solidFill>
              </a:rPr>
              <a:t>(</a:t>
            </a:r>
            <a:r>
              <a:rPr lang="uk" sz="1100" u="sng">
                <a:solidFill>
                  <a:schemeClr val="hlink"/>
                </a:solidFill>
                <a:hlinkClick r:id="rId3"/>
              </a:rPr>
              <a:t>https://arxiv.org/pdf/1906.09909</a:t>
            </a:r>
            <a:r>
              <a:rPr lang="uk" sz="1100">
                <a:solidFill>
                  <a:schemeClr val="dk1"/>
                </a:solidFill>
              </a:rPr>
              <a:t>) Zhang, B., He, M., Liao, J., Sander, P. V., Yuan, L., Bermak, A., &amp; Chen, D. (2019). Deep exemplar-based video colorization. In Proceedings of the IEEE/CVF conference on computer vision and pattern recognition (pp. 8052-8061).</a:t>
            </a:r>
            <a:endParaRPr sz="11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Посилання на всі джерела</a:t>
            </a:r>
            <a:endParaRPr/>
          </a:p>
        </p:txBody>
      </p:sp>
      <p:sp>
        <p:nvSpPr>
          <p:cNvPr id="272" name="Google Shape;27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uk" u="sng">
                <a:solidFill>
                  <a:schemeClr val="hlink"/>
                </a:solidFill>
                <a:hlinkClick r:id="rId3"/>
              </a:rPr>
              <a:t>https://docs.google.com/document/d/1BuUdqxHaIoYi07K9DqLiiDYf6IVGjuDdH6CQS1QKlc8/edit?usp=sharing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